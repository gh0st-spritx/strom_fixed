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ata 70" charset="1" panose="02000506020000020004"/>
      <p:regular r:id="rId13"/>
    </p:embeddedFont>
    <p:embeddedFont>
      <p:font typeface="Courier New" charset="1" panose="02070309020205020404"/>
      <p:regular r:id="rId14"/>
    </p:embeddedFont>
    <p:embeddedFont>
      <p:font typeface="Courier New Bold" charset="1" panose="020706090202050204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5063" y="-967372"/>
            <a:ext cx="18617177" cy="12240794"/>
          </a:xfrm>
          <a:custGeom>
            <a:avLst/>
            <a:gdLst/>
            <a:ahLst/>
            <a:cxnLst/>
            <a:rect r="r" b="b" t="t" l="l"/>
            <a:pathLst>
              <a:path h="12240794" w="18617177">
                <a:moveTo>
                  <a:pt x="0" y="0"/>
                </a:moveTo>
                <a:lnTo>
                  <a:pt x="18617176" y="0"/>
                </a:lnTo>
                <a:lnTo>
                  <a:pt x="18617176" y="12240794"/>
                </a:lnTo>
                <a:lnTo>
                  <a:pt x="0" y="1224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802649"/>
            <a:ext cx="16230600" cy="445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987"/>
              </a:lnSpc>
            </a:pPr>
            <a:r>
              <a:rPr lang="en-US" sz="16987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RESURRECTION</a:t>
            </a:r>
          </a:p>
          <a:p>
            <a:pPr algn="ctr" marL="0" indent="0" lvl="0">
              <a:lnSpc>
                <a:spcPts val="16987"/>
              </a:lnSpc>
            </a:pPr>
            <a:r>
              <a:rPr lang="en-US" sz="16987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REMIX 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84429" y="388207"/>
            <a:ext cx="2463105" cy="2505914"/>
          </a:xfrm>
          <a:custGeom>
            <a:avLst/>
            <a:gdLst/>
            <a:ahLst/>
            <a:cxnLst/>
            <a:rect r="r" b="b" t="t" l="l"/>
            <a:pathLst>
              <a:path h="2505914" w="2463105">
                <a:moveTo>
                  <a:pt x="0" y="0"/>
                </a:moveTo>
                <a:lnTo>
                  <a:pt x="2463105" y="0"/>
                </a:lnTo>
                <a:lnTo>
                  <a:pt x="2463105" y="2505914"/>
                </a:lnTo>
                <a:lnTo>
                  <a:pt x="0" y="2505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440466" y="7392879"/>
            <a:ext cx="2463105" cy="2505914"/>
          </a:xfrm>
          <a:custGeom>
            <a:avLst/>
            <a:gdLst/>
            <a:ahLst/>
            <a:cxnLst/>
            <a:rect r="r" b="b" t="t" l="l"/>
            <a:pathLst>
              <a:path h="2505914" w="2463105">
                <a:moveTo>
                  <a:pt x="0" y="0"/>
                </a:moveTo>
                <a:lnTo>
                  <a:pt x="2463105" y="0"/>
                </a:lnTo>
                <a:lnTo>
                  <a:pt x="2463105" y="2505914"/>
                </a:lnTo>
                <a:lnTo>
                  <a:pt x="0" y="2505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440466" y="388207"/>
            <a:ext cx="2463105" cy="2505914"/>
          </a:xfrm>
          <a:custGeom>
            <a:avLst/>
            <a:gdLst/>
            <a:ahLst/>
            <a:cxnLst/>
            <a:rect r="r" b="b" t="t" l="l"/>
            <a:pathLst>
              <a:path h="2505914" w="2463105">
                <a:moveTo>
                  <a:pt x="2463105" y="0"/>
                </a:moveTo>
                <a:lnTo>
                  <a:pt x="0" y="0"/>
                </a:lnTo>
                <a:lnTo>
                  <a:pt x="0" y="2505914"/>
                </a:lnTo>
                <a:lnTo>
                  <a:pt x="2463105" y="2505914"/>
                </a:lnTo>
                <a:lnTo>
                  <a:pt x="24631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800000">
            <a:off x="384429" y="7392879"/>
            <a:ext cx="2463105" cy="2505914"/>
          </a:xfrm>
          <a:custGeom>
            <a:avLst/>
            <a:gdLst/>
            <a:ahLst/>
            <a:cxnLst/>
            <a:rect r="r" b="b" t="t" l="l"/>
            <a:pathLst>
              <a:path h="2505914" w="2463105">
                <a:moveTo>
                  <a:pt x="2463105" y="0"/>
                </a:moveTo>
                <a:lnTo>
                  <a:pt x="0" y="0"/>
                </a:lnTo>
                <a:lnTo>
                  <a:pt x="0" y="2505914"/>
                </a:lnTo>
                <a:lnTo>
                  <a:pt x="2463105" y="2505914"/>
                </a:lnTo>
                <a:lnTo>
                  <a:pt x="24631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187203"/>
            <a:ext cx="16230600" cy="58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6"/>
              </a:lnSpc>
              <a:spcBef>
                <a:spcPct val="0"/>
              </a:spcBef>
            </a:pPr>
            <a:r>
              <a:rPr lang="en-US" sz="3397">
                <a:solidFill>
                  <a:srgbClr val="00BDFF"/>
                </a:solidFill>
                <a:latin typeface="Courier New"/>
                <a:ea typeface="Courier New"/>
                <a:cs typeface="Courier New"/>
                <a:sym typeface="Courier New"/>
              </a:rPr>
              <a:t>// A Terminal-Based Python Operating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843010"/>
            <a:ext cx="16230600" cy="41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North South University | CSE101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68961"/>
            <a:ext cx="16230600" cy="41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Computer Science Department //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341101" y="2129059"/>
            <a:ext cx="2748757" cy="116822"/>
          </a:xfrm>
          <a:custGeom>
            <a:avLst/>
            <a:gdLst/>
            <a:ahLst/>
            <a:cxnLst/>
            <a:rect r="r" b="b" t="t" l="l"/>
            <a:pathLst>
              <a:path h="116822" w="2748757">
                <a:moveTo>
                  <a:pt x="0" y="0"/>
                </a:moveTo>
                <a:lnTo>
                  <a:pt x="2748756" y="0"/>
                </a:lnTo>
                <a:lnTo>
                  <a:pt x="2748756" y="116822"/>
                </a:lnTo>
                <a:lnTo>
                  <a:pt x="0" y="116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9341101" y="8275452"/>
            <a:ext cx="2748757" cy="116822"/>
          </a:xfrm>
          <a:custGeom>
            <a:avLst/>
            <a:gdLst/>
            <a:ahLst/>
            <a:cxnLst/>
            <a:rect r="r" b="b" t="t" l="l"/>
            <a:pathLst>
              <a:path h="116822" w="2748757">
                <a:moveTo>
                  <a:pt x="0" y="116822"/>
                </a:moveTo>
                <a:lnTo>
                  <a:pt x="2748756" y="116822"/>
                </a:lnTo>
                <a:lnTo>
                  <a:pt x="2748756" y="0"/>
                </a:lnTo>
                <a:lnTo>
                  <a:pt x="0" y="0"/>
                </a:lnTo>
                <a:lnTo>
                  <a:pt x="0" y="11682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6186600" y="2129059"/>
            <a:ext cx="2748757" cy="116822"/>
          </a:xfrm>
          <a:custGeom>
            <a:avLst/>
            <a:gdLst/>
            <a:ahLst/>
            <a:cxnLst/>
            <a:rect r="r" b="b" t="t" l="l"/>
            <a:pathLst>
              <a:path h="116822" w="2748757">
                <a:moveTo>
                  <a:pt x="2748757" y="0"/>
                </a:moveTo>
                <a:lnTo>
                  <a:pt x="0" y="0"/>
                </a:lnTo>
                <a:lnTo>
                  <a:pt x="0" y="116822"/>
                </a:lnTo>
                <a:lnTo>
                  <a:pt x="2748757" y="116822"/>
                </a:lnTo>
                <a:lnTo>
                  <a:pt x="27487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6186600" y="8275452"/>
            <a:ext cx="2748757" cy="116822"/>
          </a:xfrm>
          <a:custGeom>
            <a:avLst/>
            <a:gdLst/>
            <a:ahLst/>
            <a:cxnLst/>
            <a:rect r="r" b="b" t="t" l="l"/>
            <a:pathLst>
              <a:path h="116822" w="2748757">
                <a:moveTo>
                  <a:pt x="2748757" y="116822"/>
                </a:moveTo>
                <a:lnTo>
                  <a:pt x="0" y="116822"/>
                </a:lnTo>
                <a:lnTo>
                  <a:pt x="0" y="0"/>
                </a:lnTo>
                <a:lnTo>
                  <a:pt x="2748757" y="0"/>
                </a:lnTo>
                <a:lnTo>
                  <a:pt x="2748757" y="11682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4588" y="-976897"/>
            <a:ext cx="18617177" cy="12240794"/>
          </a:xfrm>
          <a:custGeom>
            <a:avLst/>
            <a:gdLst/>
            <a:ahLst/>
            <a:cxnLst/>
            <a:rect r="r" b="b" t="t" l="l"/>
            <a:pathLst>
              <a:path h="12240794" w="18617177">
                <a:moveTo>
                  <a:pt x="0" y="0"/>
                </a:moveTo>
                <a:lnTo>
                  <a:pt x="18617176" y="0"/>
                </a:lnTo>
                <a:lnTo>
                  <a:pt x="18617176" y="12240794"/>
                </a:lnTo>
                <a:lnTo>
                  <a:pt x="0" y="1224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3559" y="-74490"/>
            <a:ext cx="677724" cy="10435980"/>
            <a:chOff x="0" y="0"/>
            <a:chExt cx="903632" cy="13914640"/>
          </a:xfrm>
        </p:grpSpPr>
        <p:sp>
          <p:nvSpPr>
            <p:cNvPr name="Freeform 4" id="4"/>
            <p:cNvSpPr/>
            <p:nvPr/>
          </p:nvSpPr>
          <p:spPr>
            <a:xfrm flipH="false" flipV="false" rot="-8100000">
              <a:off x="219511" y="45156"/>
              <a:ext cx="464609" cy="813320"/>
            </a:xfrm>
            <a:custGeom>
              <a:avLst/>
              <a:gdLst/>
              <a:ahLst/>
              <a:cxnLst/>
              <a:rect r="r" b="b" t="t" l="l"/>
              <a:pathLst>
                <a:path h="813320" w="464609">
                  <a:moveTo>
                    <a:pt x="0" y="0"/>
                  </a:moveTo>
                  <a:lnTo>
                    <a:pt x="464609" y="0"/>
                  </a:lnTo>
                  <a:lnTo>
                    <a:pt x="464609" y="813320"/>
                  </a:lnTo>
                  <a:lnTo>
                    <a:pt x="0" y="813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8100000">
              <a:off x="219511" y="13056164"/>
              <a:ext cx="464609" cy="813320"/>
            </a:xfrm>
            <a:custGeom>
              <a:avLst/>
              <a:gdLst/>
              <a:ahLst/>
              <a:cxnLst/>
              <a:rect r="r" b="b" t="t" l="l"/>
              <a:pathLst>
                <a:path h="813320" w="464609">
                  <a:moveTo>
                    <a:pt x="0" y="0"/>
                  </a:moveTo>
                  <a:lnTo>
                    <a:pt x="464609" y="0"/>
                  </a:lnTo>
                  <a:lnTo>
                    <a:pt x="464609" y="813320"/>
                  </a:lnTo>
                  <a:lnTo>
                    <a:pt x="0" y="813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804547" y="7460741"/>
            <a:ext cx="3766757" cy="4114800"/>
          </a:xfrm>
          <a:custGeom>
            <a:avLst/>
            <a:gdLst/>
            <a:ahLst/>
            <a:cxnLst/>
            <a:rect r="r" b="b" t="t" l="l"/>
            <a:pathLst>
              <a:path h="4114800" w="3766757">
                <a:moveTo>
                  <a:pt x="0" y="0"/>
                </a:moveTo>
                <a:lnTo>
                  <a:pt x="3766756" y="0"/>
                </a:lnTo>
                <a:lnTo>
                  <a:pt x="37667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7852559" y="971763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6" y="0"/>
                </a:lnTo>
                <a:lnTo>
                  <a:pt x="348456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700000">
            <a:off x="17852559" y="-4062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6" y="0"/>
                </a:lnTo>
                <a:lnTo>
                  <a:pt x="348456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1028700" y="2384039"/>
            <a:ext cx="16230600" cy="0"/>
          </a:xfrm>
          <a:prstGeom prst="line">
            <a:avLst/>
          </a:prstGeom>
          <a:ln cap="flat" w="38100">
            <a:solidFill>
              <a:srgbClr val="CC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6848907"/>
            <a:ext cx="2795338" cy="2428450"/>
          </a:xfrm>
          <a:custGeom>
            <a:avLst/>
            <a:gdLst/>
            <a:ahLst/>
            <a:cxnLst/>
            <a:rect r="r" b="b" t="t" l="l"/>
            <a:pathLst>
              <a:path h="2428450" w="2795338">
                <a:moveTo>
                  <a:pt x="0" y="0"/>
                </a:moveTo>
                <a:lnTo>
                  <a:pt x="2795338" y="0"/>
                </a:lnTo>
                <a:lnTo>
                  <a:pt x="2795338" y="2428450"/>
                </a:lnTo>
                <a:lnTo>
                  <a:pt x="0" y="24284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5370328" y="3048455"/>
            <a:ext cx="2795338" cy="2428450"/>
          </a:xfrm>
          <a:custGeom>
            <a:avLst/>
            <a:gdLst/>
            <a:ahLst/>
            <a:cxnLst/>
            <a:rect r="r" b="b" t="t" l="l"/>
            <a:pathLst>
              <a:path h="2428450" w="2795338">
                <a:moveTo>
                  <a:pt x="2795338" y="2428450"/>
                </a:moveTo>
                <a:lnTo>
                  <a:pt x="0" y="2428450"/>
                </a:lnTo>
                <a:lnTo>
                  <a:pt x="0" y="0"/>
                </a:lnTo>
                <a:lnTo>
                  <a:pt x="2795338" y="0"/>
                </a:lnTo>
                <a:lnTo>
                  <a:pt x="2795338" y="242845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17095" y="3501168"/>
            <a:ext cx="6186175" cy="5264357"/>
            <a:chOff x="0" y="0"/>
            <a:chExt cx="1160220" cy="987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0220" cy="987333"/>
            </a:xfrm>
            <a:custGeom>
              <a:avLst/>
              <a:gdLst/>
              <a:ahLst/>
              <a:cxnLst/>
              <a:rect r="r" b="b" t="t" l="l"/>
              <a:pathLst>
                <a:path h="987333" w="1160220">
                  <a:moveTo>
                    <a:pt x="0" y="0"/>
                  </a:moveTo>
                  <a:lnTo>
                    <a:pt x="1160220" y="0"/>
                  </a:lnTo>
                  <a:lnTo>
                    <a:pt x="1160220" y="987333"/>
                  </a:lnTo>
                  <a:lnTo>
                    <a:pt x="0" y="987333"/>
                  </a:lnTo>
                  <a:close/>
                </a:path>
              </a:pathLst>
            </a:custGeom>
            <a:blipFill>
              <a:blip r:embed="rId10"/>
              <a:stretch>
                <a:fillRect l="-2611" t="0" r="-261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523875"/>
            <a:ext cx="16230600" cy="168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30"/>
              </a:lnSpc>
              <a:spcBef>
                <a:spcPct val="0"/>
              </a:spcBef>
            </a:pPr>
            <a:r>
              <a:rPr lang="en-US" sz="9593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The_Vision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3424968"/>
            <a:ext cx="8115300" cy="58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6"/>
              </a:lnSpc>
              <a:spcBef>
                <a:spcPct val="0"/>
              </a:spcBef>
            </a:pPr>
            <a:r>
              <a:rPr lang="en-US" sz="3397">
                <a:solidFill>
                  <a:srgbClr val="CCFF00"/>
                </a:solidFill>
                <a:latin typeface="Data 70"/>
                <a:ea typeface="Data 70"/>
                <a:cs typeface="Data 70"/>
                <a:sym typeface="Data 70"/>
              </a:rPr>
              <a:t>Why Build From Scratch?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4189927"/>
            <a:ext cx="8115300" cy="126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Why build an OS from scratch with standard Python libraries? This approach demonstrates deep understanding of OS fundamentals.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6019047"/>
            <a:ext cx="8115300" cy="25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OS Fundamentals: Deep understanding of core operating system concepts.</a:t>
            </a:r>
          </a:p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Minimal Dependencies: Complex systems built without external frameworks.</a:t>
            </a:r>
          </a:p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Pure Python: Educational insight into OS architecture from ground up.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843840" y="1961996"/>
            <a:ext cx="844085" cy="844085"/>
          </a:xfrm>
          <a:custGeom>
            <a:avLst/>
            <a:gdLst/>
            <a:ahLst/>
            <a:cxnLst/>
            <a:rect r="r" b="b" t="t" l="l"/>
            <a:pathLst>
              <a:path h="844085" w="844085">
                <a:moveTo>
                  <a:pt x="0" y="0"/>
                </a:moveTo>
                <a:lnTo>
                  <a:pt x="844085" y="0"/>
                </a:lnTo>
                <a:lnTo>
                  <a:pt x="844085" y="844085"/>
                </a:lnTo>
                <a:lnTo>
                  <a:pt x="0" y="8440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4588" y="-976897"/>
            <a:ext cx="18617177" cy="12240794"/>
          </a:xfrm>
          <a:custGeom>
            <a:avLst/>
            <a:gdLst/>
            <a:ahLst/>
            <a:cxnLst/>
            <a:rect r="r" b="b" t="t" l="l"/>
            <a:pathLst>
              <a:path h="12240794" w="18617177">
                <a:moveTo>
                  <a:pt x="0" y="0"/>
                </a:moveTo>
                <a:lnTo>
                  <a:pt x="18617176" y="0"/>
                </a:lnTo>
                <a:lnTo>
                  <a:pt x="18617176" y="12240794"/>
                </a:lnTo>
                <a:lnTo>
                  <a:pt x="0" y="1224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100000">
            <a:off x="91074" y="-4062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7" y="0"/>
                </a:lnTo>
                <a:lnTo>
                  <a:pt x="348457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100000">
            <a:off x="91074" y="971763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7" y="0"/>
                </a:lnTo>
                <a:lnTo>
                  <a:pt x="348457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7852559" y="971763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6" y="0"/>
                </a:lnTo>
                <a:lnTo>
                  <a:pt x="348456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7852559" y="-4062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6" y="0"/>
                </a:lnTo>
                <a:lnTo>
                  <a:pt x="348456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028700" y="2384039"/>
            <a:ext cx="16230600" cy="0"/>
          </a:xfrm>
          <a:prstGeom prst="line">
            <a:avLst/>
          </a:prstGeom>
          <a:ln cap="flat" w="38100">
            <a:solidFill>
              <a:srgbClr val="CC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3808525"/>
            <a:ext cx="5233598" cy="3929956"/>
          </a:xfrm>
          <a:custGeom>
            <a:avLst/>
            <a:gdLst/>
            <a:ahLst/>
            <a:cxnLst/>
            <a:rect r="r" b="b" t="t" l="l"/>
            <a:pathLst>
              <a:path h="3929956" w="5233598">
                <a:moveTo>
                  <a:pt x="0" y="0"/>
                </a:moveTo>
                <a:lnTo>
                  <a:pt x="5233598" y="0"/>
                </a:lnTo>
                <a:lnTo>
                  <a:pt x="5233598" y="3929956"/>
                </a:lnTo>
                <a:lnTo>
                  <a:pt x="0" y="3929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27201" y="3808525"/>
            <a:ext cx="5233598" cy="3929956"/>
          </a:xfrm>
          <a:custGeom>
            <a:avLst/>
            <a:gdLst/>
            <a:ahLst/>
            <a:cxnLst/>
            <a:rect r="r" b="b" t="t" l="l"/>
            <a:pathLst>
              <a:path h="3929956" w="5233598">
                <a:moveTo>
                  <a:pt x="0" y="0"/>
                </a:moveTo>
                <a:lnTo>
                  <a:pt x="5233598" y="0"/>
                </a:lnTo>
                <a:lnTo>
                  <a:pt x="5233598" y="3929956"/>
                </a:lnTo>
                <a:lnTo>
                  <a:pt x="0" y="3929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23875"/>
            <a:ext cx="16230600" cy="168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30"/>
              </a:lnSpc>
              <a:spcBef>
                <a:spcPct val="0"/>
              </a:spcBef>
            </a:pPr>
            <a:r>
              <a:rPr lang="en-US" sz="9593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3458" y="4108451"/>
            <a:ext cx="4238418" cy="58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6"/>
              </a:lnSpc>
              <a:spcBef>
                <a:spcPct val="0"/>
              </a:spcBef>
            </a:pPr>
            <a:r>
              <a:rPr lang="en-US" sz="3397">
                <a:solidFill>
                  <a:srgbClr val="CCFF00"/>
                </a:solidFill>
                <a:latin typeface="Data 70"/>
                <a:ea typeface="Data 70"/>
                <a:cs typeface="Data 70"/>
                <a:sym typeface="Data 70"/>
              </a:rPr>
              <a:t>Clean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3458" y="4881801"/>
            <a:ext cx="4238418" cy="199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Modular design with clean, scalable code organization. Each component is isolated for maximum clarity and minimal coupling between system parts.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12756" y="4108451"/>
            <a:ext cx="4238418" cy="58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6"/>
              </a:lnSpc>
              <a:spcBef>
                <a:spcPct val="0"/>
              </a:spcBef>
            </a:pPr>
            <a:r>
              <a:rPr lang="en-US" sz="3397">
                <a:solidFill>
                  <a:srgbClr val="CCFF00"/>
                </a:solidFill>
                <a:latin typeface="Data 70"/>
                <a:ea typeface="Data 70"/>
                <a:cs typeface="Data 70"/>
                <a:sym typeface="Data 70"/>
              </a:rPr>
              <a:t>Function Isolation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12756" y="4881801"/>
            <a:ext cx="4238418" cy="233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Separation of concerns achieved through isolated Python functions. Each module handles a single responsibility, enabling independent development and testing.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025702" y="3808525"/>
            <a:ext cx="5233598" cy="3929956"/>
          </a:xfrm>
          <a:custGeom>
            <a:avLst/>
            <a:gdLst/>
            <a:ahLst/>
            <a:cxnLst/>
            <a:rect r="r" b="b" t="t" l="l"/>
            <a:pathLst>
              <a:path h="3929956" w="5233598">
                <a:moveTo>
                  <a:pt x="0" y="0"/>
                </a:moveTo>
                <a:lnTo>
                  <a:pt x="5233598" y="0"/>
                </a:lnTo>
                <a:lnTo>
                  <a:pt x="5233598" y="3929956"/>
                </a:lnTo>
                <a:lnTo>
                  <a:pt x="0" y="3929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662717" y="4108451"/>
            <a:ext cx="4238418" cy="58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6"/>
              </a:lnSpc>
              <a:spcBef>
                <a:spcPct val="0"/>
              </a:spcBef>
            </a:pPr>
            <a:r>
              <a:rPr lang="en-US" sz="3397">
                <a:solidFill>
                  <a:srgbClr val="CCFF00"/>
                </a:solidFill>
                <a:latin typeface="Data 70"/>
                <a:ea typeface="Data 70"/>
                <a:cs typeface="Data 70"/>
                <a:sym typeface="Data 70"/>
              </a:rPr>
              <a:t>Maintainability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62717" y="4881801"/>
            <a:ext cx="4238418" cy="199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Codebase aligned with software engineering best practices. Modules can be updated, debugged, and extended without affecting the entire system.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535499" y="9143917"/>
            <a:ext cx="5382707" cy="228765"/>
          </a:xfrm>
          <a:custGeom>
            <a:avLst/>
            <a:gdLst/>
            <a:ahLst/>
            <a:cxnLst/>
            <a:rect r="r" b="b" t="t" l="l"/>
            <a:pathLst>
              <a:path h="228765" w="5382707">
                <a:moveTo>
                  <a:pt x="0" y="0"/>
                </a:moveTo>
                <a:lnTo>
                  <a:pt x="5382707" y="0"/>
                </a:lnTo>
                <a:lnTo>
                  <a:pt x="5382707" y="228766"/>
                </a:lnTo>
                <a:lnTo>
                  <a:pt x="0" y="228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3358251" y="9143917"/>
            <a:ext cx="5382707" cy="228765"/>
          </a:xfrm>
          <a:custGeom>
            <a:avLst/>
            <a:gdLst/>
            <a:ahLst/>
            <a:cxnLst/>
            <a:rect r="r" b="b" t="t" l="l"/>
            <a:pathLst>
              <a:path h="228765" w="5382707">
                <a:moveTo>
                  <a:pt x="5382707" y="0"/>
                </a:moveTo>
                <a:lnTo>
                  <a:pt x="0" y="0"/>
                </a:lnTo>
                <a:lnTo>
                  <a:pt x="0" y="228766"/>
                </a:lnTo>
                <a:lnTo>
                  <a:pt x="5382707" y="228766"/>
                </a:lnTo>
                <a:lnTo>
                  <a:pt x="538270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843840" y="1961996"/>
            <a:ext cx="844085" cy="844085"/>
          </a:xfrm>
          <a:custGeom>
            <a:avLst/>
            <a:gdLst/>
            <a:ahLst/>
            <a:cxnLst/>
            <a:rect r="r" b="b" t="t" l="l"/>
            <a:pathLst>
              <a:path h="844085" w="844085">
                <a:moveTo>
                  <a:pt x="0" y="0"/>
                </a:moveTo>
                <a:lnTo>
                  <a:pt x="844085" y="0"/>
                </a:lnTo>
                <a:lnTo>
                  <a:pt x="844085" y="844085"/>
                </a:lnTo>
                <a:lnTo>
                  <a:pt x="0" y="8440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4588" y="-976897"/>
            <a:ext cx="18617177" cy="12240794"/>
          </a:xfrm>
          <a:custGeom>
            <a:avLst/>
            <a:gdLst/>
            <a:ahLst/>
            <a:cxnLst/>
            <a:rect r="r" b="b" t="t" l="l"/>
            <a:pathLst>
              <a:path h="12240794" w="18617177">
                <a:moveTo>
                  <a:pt x="0" y="0"/>
                </a:moveTo>
                <a:lnTo>
                  <a:pt x="18617176" y="0"/>
                </a:lnTo>
                <a:lnTo>
                  <a:pt x="18617176" y="12240794"/>
                </a:lnTo>
                <a:lnTo>
                  <a:pt x="0" y="1224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3559" y="-74490"/>
            <a:ext cx="677724" cy="10435980"/>
            <a:chOff x="0" y="0"/>
            <a:chExt cx="903632" cy="13914640"/>
          </a:xfrm>
        </p:grpSpPr>
        <p:sp>
          <p:nvSpPr>
            <p:cNvPr name="Freeform 4" id="4"/>
            <p:cNvSpPr/>
            <p:nvPr/>
          </p:nvSpPr>
          <p:spPr>
            <a:xfrm flipH="false" flipV="false" rot="-8100000">
              <a:off x="219511" y="45156"/>
              <a:ext cx="464609" cy="813320"/>
            </a:xfrm>
            <a:custGeom>
              <a:avLst/>
              <a:gdLst/>
              <a:ahLst/>
              <a:cxnLst/>
              <a:rect r="r" b="b" t="t" l="l"/>
              <a:pathLst>
                <a:path h="813320" w="464609">
                  <a:moveTo>
                    <a:pt x="0" y="0"/>
                  </a:moveTo>
                  <a:lnTo>
                    <a:pt x="464609" y="0"/>
                  </a:lnTo>
                  <a:lnTo>
                    <a:pt x="464609" y="813320"/>
                  </a:lnTo>
                  <a:lnTo>
                    <a:pt x="0" y="813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8100000">
              <a:off x="219511" y="13056164"/>
              <a:ext cx="464609" cy="813320"/>
            </a:xfrm>
            <a:custGeom>
              <a:avLst/>
              <a:gdLst/>
              <a:ahLst/>
              <a:cxnLst/>
              <a:rect r="r" b="b" t="t" l="l"/>
              <a:pathLst>
                <a:path h="813320" w="464609">
                  <a:moveTo>
                    <a:pt x="0" y="0"/>
                  </a:moveTo>
                  <a:lnTo>
                    <a:pt x="464609" y="0"/>
                  </a:lnTo>
                  <a:lnTo>
                    <a:pt x="464609" y="813320"/>
                  </a:lnTo>
                  <a:lnTo>
                    <a:pt x="0" y="813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804547" y="7460741"/>
            <a:ext cx="3766757" cy="4114800"/>
          </a:xfrm>
          <a:custGeom>
            <a:avLst/>
            <a:gdLst/>
            <a:ahLst/>
            <a:cxnLst/>
            <a:rect r="r" b="b" t="t" l="l"/>
            <a:pathLst>
              <a:path h="4114800" w="3766757">
                <a:moveTo>
                  <a:pt x="0" y="0"/>
                </a:moveTo>
                <a:lnTo>
                  <a:pt x="3766756" y="0"/>
                </a:lnTo>
                <a:lnTo>
                  <a:pt x="37667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7852559" y="971763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6" y="0"/>
                </a:lnTo>
                <a:lnTo>
                  <a:pt x="348456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700000">
            <a:off x="17852559" y="-4062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6" y="0"/>
                </a:lnTo>
                <a:lnTo>
                  <a:pt x="348456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1028700" y="2384039"/>
            <a:ext cx="16230600" cy="0"/>
          </a:xfrm>
          <a:prstGeom prst="line">
            <a:avLst/>
          </a:prstGeom>
          <a:ln cap="flat" w="38100">
            <a:solidFill>
              <a:srgbClr val="CC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6848907"/>
            <a:ext cx="2795338" cy="2428450"/>
          </a:xfrm>
          <a:custGeom>
            <a:avLst/>
            <a:gdLst/>
            <a:ahLst/>
            <a:cxnLst/>
            <a:rect r="r" b="b" t="t" l="l"/>
            <a:pathLst>
              <a:path h="2428450" w="2795338">
                <a:moveTo>
                  <a:pt x="0" y="0"/>
                </a:moveTo>
                <a:lnTo>
                  <a:pt x="2795338" y="0"/>
                </a:lnTo>
                <a:lnTo>
                  <a:pt x="2795338" y="2428450"/>
                </a:lnTo>
                <a:lnTo>
                  <a:pt x="0" y="24284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5370328" y="3048455"/>
            <a:ext cx="2795338" cy="2428450"/>
          </a:xfrm>
          <a:custGeom>
            <a:avLst/>
            <a:gdLst/>
            <a:ahLst/>
            <a:cxnLst/>
            <a:rect r="r" b="b" t="t" l="l"/>
            <a:pathLst>
              <a:path h="2428450" w="2795338">
                <a:moveTo>
                  <a:pt x="2795338" y="2428450"/>
                </a:moveTo>
                <a:lnTo>
                  <a:pt x="0" y="2428450"/>
                </a:lnTo>
                <a:lnTo>
                  <a:pt x="0" y="0"/>
                </a:lnTo>
                <a:lnTo>
                  <a:pt x="2795338" y="0"/>
                </a:lnTo>
                <a:lnTo>
                  <a:pt x="2795338" y="242845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17095" y="3501168"/>
            <a:ext cx="6186175" cy="5264357"/>
            <a:chOff x="0" y="0"/>
            <a:chExt cx="1160220" cy="987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0220" cy="987333"/>
            </a:xfrm>
            <a:custGeom>
              <a:avLst/>
              <a:gdLst/>
              <a:ahLst/>
              <a:cxnLst/>
              <a:rect r="r" b="b" t="t" l="l"/>
              <a:pathLst>
                <a:path h="987333" w="1160220">
                  <a:moveTo>
                    <a:pt x="0" y="0"/>
                  </a:moveTo>
                  <a:lnTo>
                    <a:pt x="1160220" y="0"/>
                  </a:lnTo>
                  <a:lnTo>
                    <a:pt x="1160220" y="987333"/>
                  </a:lnTo>
                  <a:lnTo>
                    <a:pt x="0" y="987333"/>
                  </a:lnTo>
                  <a:close/>
                </a:path>
              </a:pathLst>
            </a:custGeom>
            <a:blipFill>
              <a:blip r:embed="rId10"/>
              <a:stretch>
                <a:fillRect l="-2611" t="0" r="-261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523875"/>
            <a:ext cx="16230600" cy="168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30"/>
              </a:lnSpc>
              <a:spcBef>
                <a:spcPct val="0"/>
              </a:spcBef>
            </a:pPr>
            <a:r>
              <a:rPr lang="en-US" sz="9593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The_Core_Engine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3424968"/>
            <a:ext cx="8115300" cy="58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6"/>
              </a:lnSpc>
              <a:spcBef>
                <a:spcPct val="0"/>
              </a:spcBef>
            </a:pPr>
            <a:r>
              <a:rPr lang="en-US" sz="3397">
                <a:solidFill>
                  <a:srgbClr val="CCFF00"/>
                </a:solidFill>
                <a:latin typeface="Data 70"/>
                <a:ea typeface="Data 70"/>
                <a:cs typeface="Data 70"/>
                <a:sym typeface="Data 70"/>
              </a:rPr>
              <a:t>Infinite Loop Architecture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4189927"/>
            <a:ext cx="8115300" cy="126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 heart of Resurrection Remix OS beats through continuous while loops and conditional if/elif routing, simulating persistent system states.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6019047"/>
            <a:ext cx="8115300" cy="25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Event-Driven Design: if/elif chains route user commands to appropriate handlers.</a:t>
            </a:r>
          </a:p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State Management: Continuous loop maintains system responsiveness.</a:t>
            </a:r>
          </a:p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Control Flow: Efficient routing enables seamless module transitions.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843840" y="1961996"/>
            <a:ext cx="844085" cy="844085"/>
          </a:xfrm>
          <a:custGeom>
            <a:avLst/>
            <a:gdLst/>
            <a:ahLst/>
            <a:cxnLst/>
            <a:rect r="r" b="b" t="t" l="l"/>
            <a:pathLst>
              <a:path h="844085" w="844085">
                <a:moveTo>
                  <a:pt x="0" y="0"/>
                </a:moveTo>
                <a:lnTo>
                  <a:pt x="844085" y="0"/>
                </a:lnTo>
                <a:lnTo>
                  <a:pt x="844085" y="844085"/>
                </a:lnTo>
                <a:lnTo>
                  <a:pt x="0" y="8440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4588" y="-976897"/>
            <a:ext cx="18617177" cy="12240794"/>
          </a:xfrm>
          <a:custGeom>
            <a:avLst/>
            <a:gdLst/>
            <a:ahLst/>
            <a:cxnLst/>
            <a:rect r="r" b="b" t="t" l="l"/>
            <a:pathLst>
              <a:path h="12240794" w="18617177">
                <a:moveTo>
                  <a:pt x="0" y="0"/>
                </a:moveTo>
                <a:lnTo>
                  <a:pt x="18617176" y="0"/>
                </a:lnTo>
                <a:lnTo>
                  <a:pt x="18617176" y="12240794"/>
                </a:lnTo>
                <a:lnTo>
                  <a:pt x="0" y="1224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3559" y="-74490"/>
            <a:ext cx="677724" cy="10435980"/>
            <a:chOff x="0" y="0"/>
            <a:chExt cx="903632" cy="13914640"/>
          </a:xfrm>
        </p:grpSpPr>
        <p:sp>
          <p:nvSpPr>
            <p:cNvPr name="Freeform 4" id="4"/>
            <p:cNvSpPr/>
            <p:nvPr/>
          </p:nvSpPr>
          <p:spPr>
            <a:xfrm flipH="false" flipV="false" rot="-8100000">
              <a:off x="219511" y="45156"/>
              <a:ext cx="464609" cy="813320"/>
            </a:xfrm>
            <a:custGeom>
              <a:avLst/>
              <a:gdLst/>
              <a:ahLst/>
              <a:cxnLst/>
              <a:rect r="r" b="b" t="t" l="l"/>
              <a:pathLst>
                <a:path h="813320" w="464609">
                  <a:moveTo>
                    <a:pt x="0" y="0"/>
                  </a:moveTo>
                  <a:lnTo>
                    <a:pt x="464609" y="0"/>
                  </a:lnTo>
                  <a:lnTo>
                    <a:pt x="464609" y="813320"/>
                  </a:lnTo>
                  <a:lnTo>
                    <a:pt x="0" y="813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8100000">
              <a:off x="219511" y="13056164"/>
              <a:ext cx="464609" cy="813320"/>
            </a:xfrm>
            <a:custGeom>
              <a:avLst/>
              <a:gdLst/>
              <a:ahLst/>
              <a:cxnLst/>
              <a:rect r="r" b="b" t="t" l="l"/>
              <a:pathLst>
                <a:path h="813320" w="464609">
                  <a:moveTo>
                    <a:pt x="0" y="0"/>
                  </a:moveTo>
                  <a:lnTo>
                    <a:pt x="464609" y="0"/>
                  </a:lnTo>
                  <a:lnTo>
                    <a:pt x="464609" y="813320"/>
                  </a:lnTo>
                  <a:lnTo>
                    <a:pt x="0" y="813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804547" y="7460741"/>
            <a:ext cx="3766757" cy="4114800"/>
          </a:xfrm>
          <a:custGeom>
            <a:avLst/>
            <a:gdLst/>
            <a:ahLst/>
            <a:cxnLst/>
            <a:rect r="r" b="b" t="t" l="l"/>
            <a:pathLst>
              <a:path h="4114800" w="3766757">
                <a:moveTo>
                  <a:pt x="0" y="0"/>
                </a:moveTo>
                <a:lnTo>
                  <a:pt x="3766756" y="0"/>
                </a:lnTo>
                <a:lnTo>
                  <a:pt x="37667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7852559" y="971763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6" y="0"/>
                </a:lnTo>
                <a:lnTo>
                  <a:pt x="348456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700000">
            <a:off x="17852559" y="-4062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6" y="0"/>
                </a:lnTo>
                <a:lnTo>
                  <a:pt x="348456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1028700" y="2384039"/>
            <a:ext cx="16230600" cy="0"/>
          </a:xfrm>
          <a:prstGeom prst="line">
            <a:avLst/>
          </a:prstGeom>
          <a:ln cap="flat" w="38100">
            <a:solidFill>
              <a:srgbClr val="CC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6848907"/>
            <a:ext cx="2795338" cy="2428450"/>
          </a:xfrm>
          <a:custGeom>
            <a:avLst/>
            <a:gdLst/>
            <a:ahLst/>
            <a:cxnLst/>
            <a:rect r="r" b="b" t="t" l="l"/>
            <a:pathLst>
              <a:path h="2428450" w="2795338">
                <a:moveTo>
                  <a:pt x="0" y="0"/>
                </a:moveTo>
                <a:lnTo>
                  <a:pt x="2795338" y="0"/>
                </a:lnTo>
                <a:lnTo>
                  <a:pt x="2795338" y="2428450"/>
                </a:lnTo>
                <a:lnTo>
                  <a:pt x="0" y="24284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5370328" y="3048455"/>
            <a:ext cx="2795338" cy="2428450"/>
          </a:xfrm>
          <a:custGeom>
            <a:avLst/>
            <a:gdLst/>
            <a:ahLst/>
            <a:cxnLst/>
            <a:rect r="r" b="b" t="t" l="l"/>
            <a:pathLst>
              <a:path h="2428450" w="2795338">
                <a:moveTo>
                  <a:pt x="2795338" y="2428450"/>
                </a:moveTo>
                <a:lnTo>
                  <a:pt x="0" y="2428450"/>
                </a:lnTo>
                <a:lnTo>
                  <a:pt x="0" y="0"/>
                </a:lnTo>
                <a:lnTo>
                  <a:pt x="2795338" y="0"/>
                </a:lnTo>
                <a:lnTo>
                  <a:pt x="2795338" y="242845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17095" y="3501168"/>
            <a:ext cx="6186175" cy="5264357"/>
            <a:chOff x="0" y="0"/>
            <a:chExt cx="1160220" cy="987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0220" cy="987333"/>
            </a:xfrm>
            <a:custGeom>
              <a:avLst/>
              <a:gdLst/>
              <a:ahLst/>
              <a:cxnLst/>
              <a:rect r="r" b="b" t="t" l="l"/>
              <a:pathLst>
                <a:path h="987333" w="1160220">
                  <a:moveTo>
                    <a:pt x="0" y="0"/>
                  </a:moveTo>
                  <a:lnTo>
                    <a:pt x="1160220" y="0"/>
                  </a:lnTo>
                  <a:lnTo>
                    <a:pt x="1160220" y="987333"/>
                  </a:lnTo>
                  <a:lnTo>
                    <a:pt x="0" y="987333"/>
                  </a:lnTo>
                  <a:close/>
                </a:path>
              </a:pathLst>
            </a:custGeom>
            <a:blipFill>
              <a:blip r:embed="rId10"/>
              <a:stretch>
                <a:fillRect l="-2611" t="0" r="-261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523875"/>
            <a:ext cx="16230600" cy="168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30"/>
              </a:lnSpc>
              <a:spcBef>
                <a:spcPct val="0"/>
              </a:spcBef>
            </a:pPr>
            <a:r>
              <a:rPr lang="en-US" sz="9593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Authentication_System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3424968"/>
            <a:ext cx="8115300" cy="58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6"/>
              </a:lnSpc>
              <a:spcBef>
                <a:spcPct val="0"/>
              </a:spcBef>
            </a:pPr>
            <a:r>
              <a:rPr lang="en-US" sz="3397">
                <a:solidFill>
                  <a:srgbClr val="CCFF00"/>
                </a:solidFill>
                <a:latin typeface="Data 70"/>
                <a:ea typeface="Data 70"/>
                <a:cs typeface="Data 70"/>
                <a:sym typeface="Data 70"/>
              </a:rPr>
              <a:t>Credential_Verification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4189927"/>
            <a:ext cx="8115300" cy="837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Python Dictionaries power our authentication with O(1) constant-time lookup for instant user verification.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6019047"/>
            <a:ext cx="8115300" cy="25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Fast Auth: Dictionary key-value pairs enable instant credential matching.</a:t>
            </a:r>
          </a:p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Secure Storage: Hashed passwords stored as dictionary values.</a:t>
            </a:r>
          </a:p>
          <a:p>
            <a:pPr algn="l" marL="0" indent="0" lvl="0">
              <a:lnSpc>
                <a:spcPts val="3408"/>
              </a:lnSpc>
            </a:pPr>
            <a:r>
              <a:rPr lang="en-US" sz="195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Efficient Access: Direct key lookup eliminates search overhead.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843840" y="1961996"/>
            <a:ext cx="844085" cy="844085"/>
          </a:xfrm>
          <a:custGeom>
            <a:avLst/>
            <a:gdLst/>
            <a:ahLst/>
            <a:cxnLst/>
            <a:rect r="r" b="b" t="t" l="l"/>
            <a:pathLst>
              <a:path h="844085" w="844085">
                <a:moveTo>
                  <a:pt x="0" y="0"/>
                </a:moveTo>
                <a:lnTo>
                  <a:pt x="844085" y="0"/>
                </a:lnTo>
                <a:lnTo>
                  <a:pt x="844085" y="844085"/>
                </a:lnTo>
                <a:lnTo>
                  <a:pt x="0" y="8440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4588" y="-976897"/>
            <a:ext cx="18617177" cy="12240794"/>
          </a:xfrm>
          <a:custGeom>
            <a:avLst/>
            <a:gdLst/>
            <a:ahLst/>
            <a:cxnLst/>
            <a:rect r="r" b="b" t="t" l="l"/>
            <a:pathLst>
              <a:path h="12240794" w="18617177">
                <a:moveTo>
                  <a:pt x="0" y="0"/>
                </a:moveTo>
                <a:lnTo>
                  <a:pt x="18617176" y="0"/>
                </a:lnTo>
                <a:lnTo>
                  <a:pt x="18617176" y="12240794"/>
                </a:lnTo>
                <a:lnTo>
                  <a:pt x="0" y="1224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3559" y="-74490"/>
            <a:ext cx="677724" cy="10435980"/>
            <a:chOff x="0" y="0"/>
            <a:chExt cx="903632" cy="13914640"/>
          </a:xfrm>
        </p:grpSpPr>
        <p:sp>
          <p:nvSpPr>
            <p:cNvPr name="Freeform 4" id="4"/>
            <p:cNvSpPr/>
            <p:nvPr/>
          </p:nvSpPr>
          <p:spPr>
            <a:xfrm flipH="false" flipV="false" rot="-8100000">
              <a:off x="219511" y="45156"/>
              <a:ext cx="464609" cy="813320"/>
            </a:xfrm>
            <a:custGeom>
              <a:avLst/>
              <a:gdLst/>
              <a:ahLst/>
              <a:cxnLst/>
              <a:rect r="r" b="b" t="t" l="l"/>
              <a:pathLst>
                <a:path h="813320" w="464609">
                  <a:moveTo>
                    <a:pt x="0" y="0"/>
                  </a:moveTo>
                  <a:lnTo>
                    <a:pt x="464609" y="0"/>
                  </a:lnTo>
                  <a:lnTo>
                    <a:pt x="464609" y="813320"/>
                  </a:lnTo>
                  <a:lnTo>
                    <a:pt x="0" y="813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8100000">
              <a:off x="219511" y="13056164"/>
              <a:ext cx="464609" cy="813320"/>
            </a:xfrm>
            <a:custGeom>
              <a:avLst/>
              <a:gdLst/>
              <a:ahLst/>
              <a:cxnLst/>
              <a:rect r="r" b="b" t="t" l="l"/>
              <a:pathLst>
                <a:path h="813320" w="464609">
                  <a:moveTo>
                    <a:pt x="0" y="0"/>
                  </a:moveTo>
                  <a:lnTo>
                    <a:pt x="464609" y="0"/>
                  </a:lnTo>
                  <a:lnTo>
                    <a:pt x="464609" y="813320"/>
                  </a:lnTo>
                  <a:lnTo>
                    <a:pt x="0" y="813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804547" y="7460741"/>
            <a:ext cx="3766757" cy="4114800"/>
          </a:xfrm>
          <a:custGeom>
            <a:avLst/>
            <a:gdLst/>
            <a:ahLst/>
            <a:cxnLst/>
            <a:rect r="r" b="b" t="t" l="l"/>
            <a:pathLst>
              <a:path h="4114800" w="3766757">
                <a:moveTo>
                  <a:pt x="0" y="0"/>
                </a:moveTo>
                <a:lnTo>
                  <a:pt x="3766756" y="0"/>
                </a:lnTo>
                <a:lnTo>
                  <a:pt x="37667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7852559" y="971763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6" y="0"/>
                </a:lnTo>
                <a:lnTo>
                  <a:pt x="348456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700000">
            <a:off x="17852559" y="-40623"/>
            <a:ext cx="348457" cy="609990"/>
          </a:xfrm>
          <a:custGeom>
            <a:avLst/>
            <a:gdLst/>
            <a:ahLst/>
            <a:cxnLst/>
            <a:rect r="r" b="b" t="t" l="l"/>
            <a:pathLst>
              <a:path h="609990" w="348457">
                <a:moveTo>
                  <a:pt x="0" y="0"/>
                </a:moveTo>
                <a:lnTo>
                  <a:pt x="348456" y="0"/>
                </a:lnTo>
                <a:lnTo>
                  <a:pt x="348456" y="609990"/>
                </a:lnTo>
                <a:lnTo>
                  <a:pt x="0" y="609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1028700" y="2384039"/>
            <a:ext cx="16230600" cy="0"/>
          </a:xfrm>
          <a:prstGeom prst="line">
            <a:avLst/>
          </a:prstGeom>
          <a:ln cap="flat" w="38100">
            <a:solidFill>
              <a:srgbClr val="CC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6848907"/>
            <a:ext cx="2795338" cy="2428450"/>
          </a:xfrm>
          <a:custGeom>
            <a:avLst/>
            <a:gdLst/>
            <a:ahLst/>
            <a:cxnLst/>
            <a:rect r="r" b="b" t="t" l="l"/>
            <a:pathLst>
              <a:path h="2428450" w="2795338">
                <a:moveTo>
                  <a:pt x="0" y="0"/>
                </a:moveTo>
                <a:lnTo>
                  <a:pt x="2795338" y="0"/>
                </a:lnTo>
                <a:lnTo>
                  <a:pt x="2795338" y="2428450"/>
                </a:lnTo>
                <a:lnTo>
                  <a:pt x="0" y="24284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5370328" y="3048455"/>
            <a:ext cx="2795338" cy="2428450"/>
          </a:xfrm>
          <a:custGeom>
            <a:avLst/>
            <a:gdLst/>
            <a:ahLst/>
            <a:cxnLst/>
            <a:rect r="r" b="b" t="t" l="l"/>
            <a:pathLst>
              <a:path h="2428450" w="2795338">
                <a:moveTo>
                  <a:pt x="2795338" y="2428450"/>
                </a:moveTo>
                <a:lnTo>
                  <a:pt x="0" y="2428450"/>
                </a:lnTo>
                <a:lnTo>
                  <a:pt x="0" y="0"/>
                </a:lnTo>
                <a:lnTo>
                  <a:pt x="2795338" y="0"/>
                </a:lnTo>
                <a:lnTo>
                  <a:pt x="2795338" y="242845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17095" y="3501168"/>
            <a:ext cx="6186175" cy="5264357"/>
            <a:chOff x="0" y="0"/>
            <a:chExt cx="1160220" cy="987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0220" cy="987333"/>
            </a:xfrm>
            <a:custGeom>
              <a:avLst/>
              <a:gdLst/>
              <a:ahLst/>
              <a:cxnLst/>
              <a:rect r="r" b="b" t="t" l="l"/>
              <a:pathLst>
                <a:path h="987333" w="1160220">
                  <a:moveTo>
                    <a:pt x="0" y="0"/>
                  </a:moveTo>
                  <a:lnTo>
                    <a:pt x="1160220" y="0"/>
                  </a:lnTo>
                  <a:lnTo>
                    <a:pt x="1160220" y="987333"/>
                  </a:lnTo>
                  <a:lnTo>
                    <a:pt x="0" y="987333"/>
                  </a:lnTo>
                  <a:close/>
                </a:path>
              </a:pathLst>
            </a:custGeom>
            <a:blipFill>
              <a:blip r:embed="rId10"/>
              <a:stretch>
                <a:fillRect l="-2611" t="0" r="-261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523875"/>
            <a:ext cx="16230600" cy="168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30"/>
              </a:lnSpc>
              <a:spcBef>
                <a:spcPct val="0"/>
              </a:spcBef>
            </a:pPr>
            <a:r>
              <a:rPr lang="en-US" sz="9593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Data_Persistence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3424968"/>
            <a:ext cx="8115300" cy="58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6"/>
              </a:lnSpc>
              <a:spcBef>
                <a:spcPct val="0"/>
              </a:spcBef>
            </a:pPr>
            <a:r>
              <a:rPr lang="en-US" sz="3397">
                <a:solidFill>
                  <a:srgbClr val="CCFF00"/>
                </a:solidFill>
                <a:latin typeface="Data 70"/>
                <a:ea typeface="Data 70"/>
                <a:cs typeface="Data 70"/>
                <a:sym typeface="Data 70"/>
              </a:rPr>
              <a:t>File I/O &amp; Error Handling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4189927"/>
            <a:ext cx="8115300" cy="134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0"/>
              </a:lnSpc>
            </a:pPr>
            <a:r>
              <a:rPr lang="en-US" sz="21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 Notes App demonstrates robust data persistence through Python's file handling capabilities, ensuring user data survives across sessions.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6019047"/>
            <a:ext cx="8115300" cy="134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0"/>
              </a:lnSpc>
            </a:pPr>
            <a:r>
              <a:rPr lang="en-US" sz="21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File Append/Read: Persistent storage modes.</a:t>
            </a:r>
          </a:p>
          <a:p>
            <a:pPr algn="l" marL="0" indent="0" lvl="0">
              <a:lnSpc>
                <a:spcPts val="3670"/>
              </a:lnSpc>
            </a:pPr>
            <a:r>
              <a:rPr lang="en-US" sz="21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Try/Except: Graceful error recovery.</a:t>
            </a:r>
          </a:p>
          <a:p>
            <a:pPr algn="l" marL="0" indent="0" lvl="0">
              <a:lnSpc>
                <a:spcPts val="3670"/>
              </a:lnSpc>
            </a:pPr>
            <a:r>
              <a:rPr lang="en-US" sz="210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Session Continuity: Data maintained reliably.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843840" y="1961996"/>
            <a:ext cx="844085" cy="844085"/>
          </a:xfrm>
          <a:custGeom>
            <a:avLst/>
            <a:gdLst/>
            <a:ahLst/>
            <a:cxnLst/>
            <a:rect r="r" b="b" t="t" l="l"/>
            <a:pathLst>
              <a:path h="844085" w="844085">
                <a:moveTo>
                  <a:pt x="0" y="0"/>
                </a:moveTo>
                <a:lnTo>
                  <a:pt x="844085" y="0"/>
                </a:lnTo>
                <a:lnTo>
                  <a:pt x="844085" y="844085"/>
                </a:lnTo>
                <a:lnTo>
                  <a:pt x="0" y="8440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4588" y="-976897"/>
            <a:ext cx="18617177" cy="12240794"/>
          </a:xfrm>
          <a:custGeom>
            <a:avLst/>
            <a:gdLst/>
            <a:ahLst/>
            <a:cxnLst/>
            <a:rect r="r" b="b" t="t" l="l"/>
            <a:pathLst>
              <a:path h="12240794" w="18617177">
                <a:moveTo>
                  <a:pt x="0" y="0"/>
                </a:moveTo>
                <a:lnTo>
                  <a:pt x="18617176" y="0"/>
                </a:lnTo>
                <a:lnTo>
                  <a:pt x="18617176" y="12240794"/>
                </a:lnTo>
                <a:lnTo>
                  <a:pt x="0" y="1224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4429" y="388207"/>
            <a:ext cx="2463105" cy="2505914"/>
          </a:xfrm>
          <a:custGeom>
            <a:avLst/>
            <a:gdLst/>
            <a:ahLst/>
            <a:cxnLst/>
            <a:rect r="r" b="b" t="t" l="l"/>
            <a:pathLst>
              <a:path h="2505914" w="2463105">
                <a:moveTo>
                  <a:pt x="0" y="0"/>
                </a:moveTo>
                <a:lnTo>
                  <a:pt x="2463105" y="0"/>
                </a:lnTo>
                <a:lnTo>
                  <a:pt x="2463105" y="2505914"/>
                </a:lnTo>
                <a:lnTo>
                  <a:pt x="0" y="2505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5440466" y="7392879"/>
            <a:ext cx="2463105" cy="2505914"/>
          </a:xfrm>
          <a:custGeom>
            <a:avLst/>
            <a:gdLst/>
            <a:ahLst/>
            <a:cxnLst/>
            <a:rect r="r" b="b" t="t" l="l"/>
            <a:pathLst>
              <a:path h="2505914" w="2463105">
                <a:moveTo>
                  <a:pt x="0" y="0"/>
                </a:moveTo>
                <a:lnTo>
                  <a:pt x="2463105" y="0"/>
                </a:lnTo>
                <a:lnTo>
                  <a:pt x="2463105" y="2505914"/>
                </a:lnTo>
                <a:lnTo>
                  <a:pt x="0" y="2505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440466" y="388207"/>
            <a:ext cx="2463105" cy="2505914"/>
          </a:xfrm>
          <a:custGeom>
            <a:avLst/>
            <a:gdLst/>
            <a:ahLst/>
            <a:cxnLst/>
            <a:rect r="r" b="b" t="t" l="l"/>
            <a:pathLst>
              <a:path h="2505914" w="2463105">
                <a:moveTo>
                  <a:pt x="2463105" y="0"/>
                </a:moveTo>
                <a:lnTo>
                  <a:pt x="0" y="0"/>
                </a:lnTo>
                <a:lnTo>
                  <a:pt x="0" y="2505914"/>
                </a:lnTo>
                <a:lnTo>
                  <a:pt x="2463105" y="2505914"/>
                </a:lnTo>
                <a:lnTo>
                  <a:pt x="24631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384429" y="7392879"/>
            <a:ext cx="2463105" cy="2505914"/>
          </a:xfrm>
          <a:custGeom>
            <a:avLst/>
            <a:gdLst/>
            <a:ahLst/>
            <a:cxnLst/>
            <a:rect r="r" b="b" t="t" l="l"/>
            <a:pathLst>
              <a:path h="2505914" w="2463105">
                <a:moveTo>
                  <a:pt x="2463105" y="0"/>
                </a:moveTo>
                <a:lnTo>
                  <a:pt x="0" y="0"/>
                </a:lnTo>
                <a:lnTo>
                  <a:pt x="0" y="2505914"/>
                </a:lnTo>
                <a:lnTo>
                  <a:pt x="2463105" y="2505914"/>
                </a:lnTo>
                <a:lnTo>
                  <a:pt x="24631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73957"/>
            <a:ext cx="16230600" cy="445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987"/>
              </a:lnSpc>
            </a:pPr>
            <a:r>
              <a:rPr lang="en-US" sz="16987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QUESTIONS &amp;</a:t>
            </a:r>
          </a:p>
          <a:p>
            <a:pPr algn="ctr" marL="0" indent="0" lvl="0">
              <a:lnSpc>
                <a:spcPts val="16987"/>
              </a:lnSpc>
            </a:pPr>
            <a:r>
              <a:rPr lang="en-US" sz="16987">
                <a:solidFill>
                  <a:srgbClr val="FFFFFF"/>
                </a:solidFill>
                <a:latin typeface="Data 70"/>
                <a:ea typeface="Data 70"/>
                <a:cs typeface="Data 70"/>
                <a:sym typeface="Data 70"/>
              </a:rPr>
              <a:t>DISCUSSION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20661"/>
            <a:ext cx="16230600" cy="58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6"/>
              </a:lnSpc>
              <a:spcBef>
                <a:spcPct val="0"/>
              </a:spcBef>
            </a:pPr>
            <a:r>
              <a:rPr lang="en-US" sz="3397" spc="1100">
                <a:solidFill>
                  <a:srgbClr val="CCFF00"/>
                </a:solidFill>
                <a:latin typeface="Courier New"/>
                <a:ea typeface="Courier New"/>
                <a:cs typeface="Courier New"/>
                <a:sym typeface="Courier New"/>
              </a:rPr>
              <a:t>THANK YOU FOR YOUR ATTENTION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063707"/>
            <a:ext cx="16230600" cy="41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0E5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Resurrection Remix 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41101" y="6249658"/>
            <a:ext cx="2748757" cy="116822"/>
          </a:xfrm>
          <a:custGeom>
            <a:avLst/>
            <a:gdLst/>
            <a:ahLst/>
            <a:cxnLst/>
            <a:rect r="r" b="b" t="t" l="l"/>
            <a:pathLst>
              <a:path h="116822" w="2748757">
                <a:moveTo>
                  <a:pt x="0" y="0"/>
                </a:moveTo>
                <a:lnTo>
                  <a:pt x="2748756" y="0"/>
                </a:lnTo>
                <a:lnTo>
                  <a:pt x="2748756" y="116822"/>
                </a:lnTo>
                <a:lnTo>
                  <a:pt x="0" y="116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6186600" y="6249658"/>
            <a:ext cx="2748757" cy="116822"/>
          </a:xfrm>
          <a:custGeom>
            <a:avLst/>
            <a:gdLst/>
            <a:ahLst/>
            <a:cxnLst/>
            <a:rect r="r" b="b" t="t" l="l"/>
            <a:pathLst>
              <a:path h="116822" w="2748757">
                <a:moveTo>
                  <a:pt x="2748757" y="0"/>
                </a:moveTo>
                <a:lnTo>
                  <a:pt x="0" y="0"/>
                </a:lnTo>
                <a:lnTo>
                  <a:pt x="0" y="116822"/>
                </a:lnTo>
                <a:lnTo>
                  <a:pt x="2748757" y="116822"/>
                </a:lnTo>
                <a:lnTo>
                  <a:pt x="27487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7621926"/>
            <a:ext cx="16230600" cy="41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Pure Python • Modular Architecture • Standard Library Only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080682"/>
            <a:ext cx="16230600" cy="41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North South University • CSE101 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212303"/>
            <a:ext cx="16230600" cy="27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00BBDE"/>
                </a:solidFill>
                <a:latin typeface="Courier New"/>
                <a:ea typeface="Courier New"/>
                <a:cs typeface="Courier New"/>
                <a:sym typeface="Courier New"/>
              </a:rPr>
              <a:t>Loops • Conditionals • Data Structures • File I/O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DAHITgztsTY</dc:identifier>
  <dcterms:modified xsi:type="dcterms:W3CDTF">2011-08-01T06:04:30Z</dcterms:modified>
  <cp:revision>1</cp:revision>
  <dc:title>Resurrection Remix OS Overview</dc:title>
</cp:coreProperties>
</file>